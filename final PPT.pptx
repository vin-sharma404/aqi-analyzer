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81" r:id="rId2"/>
    <p:sldId id="284" r:id="rId3"/>
    <p:sldId id="285" r:id="rId4"/>
    <p:sldId id="294" r:id="rId5"/>
    <p:sldId id="286" r:id="rId6"/>
    <p:sldId id="306" r:id="rId7"/>
    <p:sldId id="307" r:id="rId8"/>
    <p:sldId id="305" r:id="rId9"/>
    <p:sldId id="295" r:id="rId10"/>
    <p:sldId id="287" r:id="rId11"/>
    <p:sldId id="300" r:id="rId12"/>
    <p:sldId id="288" r:id="rId13"/>
    <p:sldId id="301" r:id="rId14"/>
    <p:sldId id="289" r:id="rId15"/>
    <p:sldId id="296" r:id="rId16"/>
    <p:sldId id="290" r:id="rId17"/>
    <p:sldId id="299" r:id="rId18"/>
    <p:sldId id="291" r:id="rId19"/>
    <p:sldId id="298" r:id="rId20"/>
    <p:sldId id="292" r:id="rId21"/>
    <p:sldId id="293" r:id="rId22"/>
    <p:sldId id="302" r:id="rId23"/>
    <p:sldId id="304" r:id="rId24"/>
    <p:sldId id="303" r:id="rId25"/>
  </p:sldIdLst>
  <p:sldSz cx="9144000" cy="6858000" type="screen4x3"/>
  <p:notesSz cx="9144000" cy="6858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itchFamily="34" charset="0"/>
        <a:ea typeface="MS PGothic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B79D34-BF97-4B8F-BFF2-06702C1C98EB}" v="10" dt="2025-03-03T10:14:11.924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>
        <p:scale>
          <a:sx n="75" d="100"/>
          <a:sy n="75" d="100"/>
        </p:scale>
        <p:origin x="1666" y="12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Relationship Id="rId30" Type="http://schemas.microsoft.com/office/2015/10/relationships/revisionInfo" Target="revisionInfo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03-04T07:13:22.800"/>
    </inkml:context>
    <inkml:brush xml:id="br0">
      <inkml:brushProperty name="width" value="0.21167" units="cm"/>
      <inkml:brushProperty name="height" value="0.21167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C51DDDA2-D3E6-4368-BECC-B012854537C9}" emma:medium="tactile" emma:mode="ink">
          <msink:context xmlns:msink="http://schemas.microsoft.com/ink/2010/main" type="writingRegion" rotatedBoundingBox="15239,3079 15894,3079 15894,3617 15239,3617"/>
        </emma:interpretation>
      </emma:emma>
    </inkml:annotationXML>
    <inkml:traceGroup>
      <inkml:annotationXML>
        <emma:emma xmlns:emma="http://www.w3.org/2003/04/emma" version="1.0">
          <emma:interpretation id="{55A3349B-83CB-43D3-9644-A5B2B2C00E0E}" emma:medium="tactile" emma:mode="ink">
            <msink:context xmlns:msink="http://schemas.microsoft.com/ink/2010/main" type="paragraph" rotatedBoundingBox="15239,3079 15894,3079 15894,3617 15239,3617" alignmentLevel="1"/>
          </emma:interpretation>
        </emma:emma>
      </inkml:annotationXML>
      <inkml:traceGroup>
        <inkml:annotationXML>
          <emma:emma xmlns:emma="http://www.w3.org/2003/04/emma" version="1.0">
            <emma:interpretation id="{684179C0-1B93-4918-ACF2-B7B6A2BC9132}" emma:medium="tactile" emma:mode="ink">
              <msink:context xmlns:msink="http://schemas.microsoft.com/ink/2010/main" type="line" rotatedBoundingBox="15239,3079 15894,3079 15894,3617 15239,3617"/>
            </emma:interpretation>
          </emma:emma>
        </inkml:annotationXML>
        <inkml:traceGroup>
          <inkml:annotationXML>
            <emma:emma xmlns:emma="http://www.w3.org/2003/04/emma" version="1.0">
              <emma:interpretation id="{3C8DF472-99B0-469E-99FA-13EF7D1F0C53}" emma:medium="tactile" emma:mode="ink">
                <msink:context xmlns:msink="http://schemas.microsoft.com/ink/2010/main" type="inkWord" rotatedBoundingBox="15239,3079 15894,3079 15894,3617 15239,3617"/>
              </emma:interpretation>
              <emma:one-of disjunction-type="recognition" id="oneOf0">
                <emma:interpretation id="interp0" emma:lang="" emma:confidence="0.5">
                  <emma:literal>.</emma:literal>
                </emma:interpretation>
                <emma:interpretation id="interp1" emma:lang="" emma:confidence="0">
                  <emma:literal>s</emma:literal>
                </emma:interpretation>
                <emma:interpretation id="interp2" emma:lang="" emma:confidence="0">
                  <emma:literal>6</emma:literal>
                </emma:interpretation>
                <emma:interpretation id="interp3" emma:lang="" emma:confidence="0">
                  <emma:literal>a</emma:literal>
                </emma:interpretation>
                <emma:interpretation id="interp4" emma:lang="" emma:confidence="0">
                  <emma:literal>&amp;</emma:literal>
                </emma:interpretation>
              </emma:one-of>
            </emma:emma>
          </inkml:annotationXML>
          <inkml:trace contextRef="#ctx0" brushRef="#br0">655 2 0,'-39'0'94,"1"0"31,-1 0-109,1 0 15,-1 38-15,1 1 30,-1-39-14,1 0-17,-1 38 17,1-38-17,-1 39 32,1-39 47,38 38 203,0 1-266,0-1-15,0 1 30,0-1 33,0 0-48,0 1 78,0-1-78,0 1 48,38-39-48,-38 38 47,0-76 125,0-1-172,0 1-31,0-1 16,0 1 0,0 0-1,0-1 32,0 1-16,0-1 141,0 1-94,-38 38 125,-1 0-171,39 38-17,-38-38 48,38 39-48,-39-1 17,1-38 46,38 39-78,0-1 94,0 0-32,-39-38-46,39 39 156,0-1-110,39-38 251,-1 0-251,1 0-31,-1 0 63</inkml:trace>
        </inkml:traceGroup>
      </inkml:traceGroup>
    </inkml:traceGroup>
  </inkml:traceGroup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366" units="cm"/>
          <inkml:channel name="Y" type="integer" max="768" units="cm"/>
          <inkml:channel name="T" type="integer" max="2.14748E9" units="dev"/>
        </inkml:traceFormat>
        <inkml:channelProperties>
          <inkml:channelProperty channel="X" name="resolution" value="39.7093" units="1/cm"/>
          <inkml:channelProperty channel="Y" name="resolution" value="39.79275" units="1/cm"/>
          <inkml:channelProperty channel="T" name="resolution" value="1" units="1/dev"/>
        </inkml:channelProperties>
      </inkml:inkSource>
      <inkml:timestamp xml:id="ts0" timeString="2025-03-04T07:13:46.349"/>
    </inkml:context>
    <inkml:brush xml:id="br0">
      <inkml:brushProperty name="width" value="0.21167" units="cm"/>
      <inkml:brushProperty name="height" value="0.21167" units="cm"/>
      <inkml:brushProperty name="color" value="#FFFFFF"/>
      <inkml:brushProperty name="fitToCurve" value="1"/>
    </inkml:brush>
  </inkml:definitions>
  <inkml:traceGroup>
    <inkml:annotationXML>
      <emma:emma xmlns:emma="http://www.w3.org/2003/04/emma" version="1.0">
        <emma:interpretation id="{806D2301-8DEE-42D9-A3D5-76531200316A}" emma:medium="tactile" emma:mode="ink">
          <msink:context xmlns:msink="http://schemas.microsoft.com/ink/2010/main" type="writingRegion" rotatedBoundingBox="15743,2673 19017,2710 19003,3916 15729,3880"/>
        </emma:interpretation>
      </emma:emma>
    </inkml:annotationXML>
    <inkml:traceGroup>
      <inkml:annotationXML>
        <emma:emma xmlns:emma="http://www.w3.org/2003/04/emma" version="1.0">
          <emma:interpretation id="{12D78A34-4FA3-4730-A84D-B6F72C726C98}" emma:medium="tactile" emma:mode="ink">
            <msink:context xmlns:msink="http://schemas.microsoft.com/ink/2010/main" type="paragraph" rotatedBoundingBox="15743,2673 19017,2710 19003,3916 15729,3880" alignmentLevel="1"/>
          </emma:interpretation>
        </emma:emma>
      </inkml:annotationXML>
      <inkml:traceGroup>
        <inkml:annotationXML>
          <emma:emma xmlns:emma="http://www.w3.org/2003/04/emma" version="1.0">
            <emma:interpretation id="{1C5206CF-E88D-4677-9C17-4E82F2F022AC}" emma:medium="tactile" emma:mode="ink">
              <msink:context xmlns:msink="http://schemas.microsoft.com/ink/2010/main" type="line" rotatedBoundingBox="15743,2673 19017,2710 19003,3916 15729,3880"/>
            </emma:interpretation>
          </emma:emma>
        </inkml:annotationXML>
        <inkml:traceGroup>
          <inkml:annotationXML>
            <emma:emma xmlns:emma="http://www.w3.org/2003/04/emma" version="1.0">
              <emma:interpretation id="{CA3BEFA6-6E78-47D3-838E-6FFB7725AA4D}" emma:medium="tactile" emma:mode="ink">
                <msink:context xmlns:msink="http://schemas.microsoft.com/ink/2010/main" type="inkWord" rotatedBoundingBox="15743,2673 18746,2707 18733,3913 15729,3880"/>
              </emma:interpretation>
              <emma:one-of disjunction-type="recognition" id="oneOf0">
                <emma:interpretation id="interp0" emma:lang="" emma:confidence="1">
                  <emma:literal/>
                </emma:interpretation>
              </emma:one-of>
            </emma:emma>
          </inkml:annotationXML>
          <inkml:trace contextRef="#ctx0" brushRef="#br0">615 309 0,'0'38'31,"-38"-38"-16,0 0 126,-1 0-94,1 0-16,-1 0-31,1 0 16,-1 0-1,1 0 1,-1 0 0,1 0 15,-1 0-15,1 0-1,-1 0 16,1 0-15,-1 0 15,78 0 126,-1 0-142,1 0 1,76 0-16,-76 0 15,38-38 1,-39 38-16,1 0 16,-1 0-1,1 0 1,-1 0 31,0 0-16,-76 0 47,0 0-62,-1 0-1,1 0-15,-1 0 16,1 0 0,-1 0-1,1 0 17,-1 0-1,1 0 16,-1 0 31,1 0-47,-1 0 0,1 0 16,-1 0-16,1 0 63,38-39 78,38 39-156,1-38-16,-1 38 15,1 0 1,-1 0 0,1 0-1,-39-39-15,38 39 16,-38-38-16,39 38 31,-1 0-31,1 0 47,-1 0-16,-76 0 188,-1 0-203,1 0-1,-1 0 16,1 0 16,-1 0 0,1 0 47,-1 0-63,39 38-15,-38-38-1,38 39 1,0-1 0,-39-38-16,39 39 15,-38-39-15,38 38 16,0 1 0,0-1 15,0 1 0,0-1 16,38-38-31,1 0 15,-1 0-31,1 0 15,-1 0 1,1 0 0,-1 0-1,1 0 1,-1 0 15,1 0 32,-1 0 30,1 0-30,-1 0-47,1-38 15,-39-1-16,38 39 1,0 0-16,1 0 16,-1 0-1,-38-38 1,39 38-16,-1 0 31,1-39-31,-1 39 16,1 0-1,-1 0 1,39 0 15,-38 0-15,-1 0-16,1 0 31,-1 0-31,1 0 31,-1 0-15,1 0 0,-1 0-1,1 0 17,-1 0-1,1 0 47,-1 0-78,1 0 16,-1-38-1,1 38 1,-1 0 15,1 0-31,-1 0 31,1 0-15,-1 0 31,-38-39-32,39 39 48,-1 0-47,0 0-1,1 0 48,-1 0-16,1 0 78,-1 0-94,1 0 266,-1 0-282,1 0 1,-1 39-16,1-1 16,-1-38-16,1 0 15,-39 39 1,38-39-16,1 0 15,-1 0 17,1 0-1,-39 38-31,0 1 203,-39-39-187,-38 0-1,0 0 17,0 0-17,39 0 1,-1 0-16,1 0 15,-1 0-15,-38 0 16,39 0 0,-1 0-16,1 0 15,0 38 1,-1-38 0,1 0-16,38 39 15,-39-39 1,1 0-16,-1 0 31,-38 0-15,39 0 15,-1 0-31,39 38 31,-38-38-31,-1 39 31,1-39 1,-1 0 15,1 0-32,-1 0 1,1 0-1,38 38-15,-39-38 16,1 0 15,-1 0-31,1 0 32,-1 0-17,1 0 16,-1 0 32,1 0-16,-1 0 125,39-38-63,0-1-62,0 1 31,0-1-31,0 1 0,0-1 15,39 1-46,-1 38 31,-38-39-32,0 1 32,0-1 78,-38 39-47,38-38-62,-39 38 15,1 0-15,38-39 265,38 39-234,1-38-31,-1 38-1,1 0 1,-1-39 15,1 39-15,-1 0 15,1 0-15,-1 0 15,1 0 0,-1 0-15,1 0 15,-1 0-31,1 0 31,-1 0 1,1 0-17,-1 0 1,1 0-1,-1 0 17,1 0-1,-1 0-31,1 0 47,-1 0-47,1 0 62,-1 0-15,1 0-31,-1 0 78,0 0-48,1 0 1,-1 0 94,-38-38 46,-38 38-140,-1-39 0,1 39-31,0-38 15,-1 38-15,1 0 62,-1 0 0,1 0-62,-1 0 15,1 0 0,-1 0 16,1 0 0,-1 0-32,1 0 32,-1 0 0,1 0 31,38 38-62,-39-38 31,1 0-16,38 39 328,38-39-296,-38 38-47,39-38-1,-39 39 16,38-39-15,1 0 15,-1 0 63,1 0-78,-1 0 31,1 0-1,-1 0-14,1 0 108,-39 38 423,0 1-532,0-1 0,0 1 1,0-1-17,0 1 32,38-39-31,-38 38-1,39-38 204,-1 0-203,1 0-1,-1 0 1,0 0 0,1 0 15</inkml:trace>
          <inkml:trace contextRef="#ctx0" brushRef="#br0" timeOffset="16088.68">2501 463 0,'-38'0'235,"-39"0"-204,38 0-15,1 0-1,-1 0-15,1 0 16,-1 0 15,1 0 0,-1 0-15,78 0 93,-1 0-109,1 0 16,76 0 0,-38 0-16,39 0 15,-1 0-15,-38 0 16,0 0 0,-38 0-16,-1 0 15,1 0 1,-1 0 31,1 0-16,-78 0 94,1 0-125,38-39 16,-77 39-1,38 0-15,1 0 16,-1 0-1,-38-38-15,39 38 16,-1 0-16,1 0 16,-1 0-1,-38-39 1,39 39 0,-1 0-1,1 0 1,-1 0-1,1 0 1,-1 0 0,1 0-16,-1 0 31,1 0-31,-39 0 16,38 0 15,1 0-16,-1 0 1,1 0-16,0 0 16,38 39-1,-39-39 1,1 0 15,-1 0 32,155 0 77,-78 0-140,39 0 16,0 0 0,-39 0-16,39 0 15,-38 0 1,-1 0-16,1 0 15,-1 0-15,1 0 16,-1 0 0,1 0-1,-1 0 1,1 0 0,-1 0 30,1 0-14,-1 0 30,-38 38-31,39-38-15,-1 0-16,1 0 31,-1 0-31,-38 39 16,39-39 0,-39 38-16,38-38 15,1 0 1,-1 0 15,1 39-15,-1-39 93,-76 0-15,-1 0-94,1 0 15,-1 0 1,1 0-16,-1 0 16,-38 0-1,39 0-15,-1 0 16,1 0 0,-1 0-1,1 0 16,-1 0-31,1 0 32,-1 0 15,1 0-1,-1 0 17,1 0-47,-1 0 15,1 0 0,-1 0-15,1 0 15,-1 0 0,1 0-15,-39 0-1,38 0 1,1 0 0,0 38-1,-1-38-15,1 0 32,-1 0-32,1 0 15,-1 0-15,39 39 31,-38-39-31,-1 0 32,1 0-32,-1 38 15,1-38 1,38 39 0,-39-39-1,1 38 16,-1-38-15,39 38 0,-38 1 93,38-1-31,-39-38-78,39 39 31,0-1 16,-38 1-47,38-1 32,-39-38-17,39 39-15,-38-39 16,-1 38-1,1-38 17,-1 0-17,39 39-15,-38-39 32,-1 0-32,1 0 31,-1 0-31,1 0 15,-39 0 1,0 0 0,38 0 15,1 0-15,0 0 30,38-39 33,0 1-64,76-1 1,-37 39-1,76-38-15,-76 38 16,-1 0-16,39 0 16,-38 0-1,-1 0-15,1 0 16,38 0 0,-39 0-16,1 0 15,-1 0-15,1 0 16,-1-39-1,1 39-15,-1 0 16,1 0 0,-1 0-16,1 0 15,-1 0 17,1 0-1,-1 0 0,1 0 32,-1 0-48,1 0 32,-1 0-16,1 0-15,-1 0-16,0 0 16,1 0-1,-1 0-15,1 0 31,-1 0 1,1 0 15,-78 0 78,-38 0-125,0 0 31,39 0-31,0 0 15,-39 0 1,38 0-16,-38 0 16,0 0-16,0 0 15,0 0 1,39 39-16,-39-39 16,0 0-1,38 38-15,1-38 16,-1 0-1,-38 39 1,39-1 0,-1-38-1,1 0 1,-1 39 0,1-39-16,38 38 15,-39-38-15,1 0 16,-1 39-1,1-39 1,-1 0 15,78 0 282</inkml:trace>
        </inkml:traceGroup>
        <inkml:traceGroup>
          <inkml:annotationXML>
            <emma:emma xmlns:emma="http://www.w3.org/2003/04/emma" version="1.0">
              <emma:interpretation id="{B0D0B198-496E-4124-AB9B-B40D0378E80E}" emma:medium="tactile" emma:mode="ink">
                <msink:context xmlns:msink="http://schemas.microsoft.com/ink/2010/main" type="inkWord" rotatedBoundingBox="16971,3187 19011,3210 19009,3369 16969,3346"/>
              </emma:interpretation>
              <emma:one-of disjunction-type="recognition" id="oneOf1">
                <emma:interpretation id="interp1" emma:lang="" emma:confidence="0.5">
                  <emma:literal>w</emma:literal>
                </emma:interpretation>
                <emma:interpretation id="interp2" emma:lang="" emma:confidence="0">
                  <emma:literal>m</emma:literal>
                </emma:interpretation>
                <emma:interpretation id="interp3" emma:lang="" emma:confidence="0">
                  <emma:literal>.</emma:literal>
                </emma:interpretation>
                <emma:interpretation id="interp4" emma:lang="" emma:confidence="0">
                  <emma:literal>,</emma:literal>
                </emma:interpretation>
                <emma:interpretation id="interp5" emma:lang="" emma:confidence="0">
                  <emma:literal>-</emma:literal>
                </emma:interpretation>
              </emma:one-of>
            </emma:emma>
          </inkml:annotationXML>
          <inkml:trace contextRef="#ctx0" brushRef="#br0" timeOffset="21656.49">1270 540 0,'-39'0'46,"78"0"95,38 0-125,-39 0-1,39 0-15,0 0 16,-38 0-16,-1-39 16,1 39-1,-1 0 1,1 0-1,-1 0 32,1 0 47,-116 39 78,0-1-172,38-38 16,-38 39-1,39-39-15,-1 38 16,1-38-16,-1 0 15,1 0 1,115 0 125,0 0-126,38 0-15,1 0 16,114 0 0,-76-38-16,0 38 15,-38 0 1,-1 0-16,-76 0 15,38 0-15,0 0 32,-39 0-17,-38-39 1,39 39 0,-1 0 15,-76 0 47,-39 0-78,0 0 16,0 0-1,-39 0-15,78 0 16,-78 0-1,78 0 1,-1 0 15,116 0 79,-38 0-95,38 0-15,38 0 16,-76 0 0,76 0-16,-38 0 15,-38 0 1,-1 0-16,1 0 15,38 0-15,-39 0 16,1 0 0,-1 0-1,1 0 1,-1 0 0,0 0-1,1 0 1,-1 0 31,1 0-16</inkml:trace>
        </inkml:traceGroup>
      </inkml:traceGroup>
    </inkml:traceGroup>
  </inkml:traceGroup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"/>
            <a:ext cx="5486400" cy="9144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371600"/>
            <a:ext cx="8153400" cy="4724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759657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0" descr="LOGO.gif"/>
          <p:cNvPicPr>
            <a:picLocks noChangeAspect="1"/>
          </p:cNvPicPr>
          <p:nvPr/>
        </p:nvPicPr>
        <p:blipFill>
          <a:blip r:embed="rId2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5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6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7" name="Picture 9" descr="LOGO.gif"/>
            <p:cNvPicPr>
              <a:picLocks noChangeAspect="1"/>
            </p:cNvPicPr>
            <p:nvPr/>
          </p:nvPicPr>
          <p:blipFill>
            <a:blip r:embed="rId2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8" name="Rectangle 7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9" name="Picture 15" descr="logo.jpg"/>
          <p:cNvPicPr>
            <a:picLocks noChangeAspect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IN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527929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0" y="0"/>
            <a:ext cx="6477000" cy="838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3716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1D8BD707-D9CF-40AE-B4C6-C98DA3205C09}" type="datetimeFigureOut">
              <a:rPr lang="en-US" smtClean="0"/>
              <a:pPr/>
              <a:t>4/21/2025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charset="0"/>
                <a:ea typeface="ＭＳ Ｐゴシック" charset="-128"/>
                <a:cs typeface="+mn-cs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pPr marL="38100">
              <a:lnSpc>
                <a:spcPts val="1630"/>
              </a:lnSpc>
            </a:pPr>
            <a:fld id="{81D60167-4931-47E6-BA6A-407CBD079E47}" type="slidenum">
              <a:rPr lang="en-IN" smtClean="0"/>
              <a:pPr marL="38100">
                <a:lnSpc>
                  <a:spcPts val="1630"/>
                </a:lnSpc>
              </a:pPr>
              <a:t>‹#›</a:t>
            </a:fld>
            <a:endParaRPr lang="en-IN" dirty="0"/>
          </a:p>
        </p:txBody>
      </p:sp>
      <p:sp>
        <p:nvSpPr>
          <p:cNvPr id="1031" name="Rectangle 11"/>
          <p:cNvSpPr>
            <a:spLocks noChangeArrowheads="1"/>
          </p:cNvSpPr>
          <p:nvPr/>
        </p:nvSpPr>
        <p:spPr bwMode="auto">
          <a:xfrm>
            <a:off x="0" y="0"/>
            <a:ext cx="9144000" cy="838200"/>
          </a:xfrm>
          <a:prstGeom prst="rect">
            <a:avLst/>
          </a:prstGeom>
          <a:solidFill>
            <a:srgbClr val="FF3300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/>
          <a:p>
            <a:endParaRPr lang="en-US">
              <a:latin typeface="Calibri" pitchFamily="34" charset="0"/>
            </a:endParaRPr>
          </a:p>
        </p:txBody>
      </p:sp>
      <p:sp>
        <p:nvSpPr>
          <p:cNvPr id="8" name="Rectangle 11"/>
          <p:cNvSpPr>
            <a:spLocks noChangeArrowheads="1"/>
          </p:cNvSpPr>
          <p:nvPr/>
        </p:nvSpPr>
        <p:spPr bwMode="auto">
          <a:xfrm flipV="1">
            <a:off x="0" y="6705600"/>
            <a:ext cx="9144000" cy="198116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  <a:scene3d>
            <a:camera prst="orthographicFront"/>
            <a:lightRig rig="threePt" dir="t"/>
          </a:scene3d>
          <a:sp3d>
            <a:bevelB/>
          </a:sp3d>
        </p:spPr>
        <p:txBody>
          <a:bodyPr wrap="none" anchor="ctr"/>
          <a:lstStyle/>
          <a:p>
            <a:pPr>
              <a:defRPr/>
            </a:pPr>
            <a:endParaRPr lang="en-US">
              <a:latin typeface="Calibri" charset="0"/>
              <a:ea typeface="ＭＳ Ｐゴシック" charset="-128"/>
            </a:endParaRPr>
          </a:p>
        </p:txBody>
      </p:sp>
      <p:pic>
        <p:nvPicPr>
          <p:cNvPr id="1035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6" name="Picture 10" descr="LOGO.gif"/>
          <p:cNvPicPr>
            <a:picLocks noChangeAspect="1"/>
          </p:cNvPicPr>
          <p:nvPr/>
        </p:nvPicPr>
        <p:blipFill>
          <a:blip r:embed="rId4" cstate="print"/>
          <a:srcRect b="10713"/>
          <a:stretch>
            <a:fillRect/>
          </a:stretch>
        </p:blipFill>
        <p:spPr bwMode="auto">
          <a:xfrm>
            <a:off x="6553200" y="228600"/>
            <a:ext cx="2057400" cy="63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grpSp>
        <p:nvGrpSpPr>
          <p:cNvPr id="1037" name="Group 7"/>
          <p:cNvGrpSpPr>
            <a:grpSpLocks/>
          </p:cNvGrpSpPr>
          <p:nvPr/>
        </p:nvGrpSpPr>
        <p:grpSpPr bwMode="auto">
          <a:xfrm>
            <a:off x="6146800" y="0"/>
            <a:ext cx="2997200" cy="876300"/>
            <a:chOff x="6096000" y="3924300"/>
            <a:chExt cx="2997200" cy="876300"/>
          </a:xfrm>
        </p:grpSpPr>
        <p:sp>
          <p:nvSpPr>
            <p:cNvPr id="1039" name="Rectangle 11"/>
            <p:cNvSpPr>
              <a:spLocks noChangeArrowheads="1"/>
            </p:cNvSpPr>
            <p:nvPr/>
          </p:nvSpPr>
          <p:spPr bwMode="auto">
            <a:xfrm>
              <a:off x="6096000" y="3924300"/>
              <a:ext cx="2997200" cy="838200"/>
            </a:xfrm>
            <a:prstGeom prst="rect">
              <a:avLst/>
            </a:prstGeom>
            <a:solidFill>
              <a:srgbClr val="FF3300"/>
            </a:solidFill>
            <a:ln w="9525">
              <a:noFill/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>
                <a:latin typeface="Calibri" pitchFamily="34" charset="0"/>
              </a:endParaRPr>
            </a:p>
          </p:txBody>
        </p:sp>
        <p:pic>
          <p:nvPicPr>
            <p:cNvPr id="1040" name="Picture 9" descr="LOGO.gif"/>
            <p:cNvPicPr>
              <a:picLocks noChangeAspect="1"/>
            </p:cNvPicPr>
            <p:nvPr/>
          </p:nvPicPr>
          <p:blipFill>
            <a:blip r:embed="rId4" cstate="print"/>
            <a:srcRect b="10713"/>
            <a:stretch>
              <a:fillRect/>
            </a:stretch>
          </p:blipFill>
          <p:spPr bwMode="auto">
            <a:xfrm>
              <a:off x="6502400" y="4152900"/>
              <a:ext cx="2057400" cy="63500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  <p:sp>
          <p:nvSpPr>
            <p:cNvPr id="19" name="Rectangle 18"/>
            <p:cNvSpPr/>
            <p:nvPr/>
          </p:nvSpPr>
          <p:spPr>
            <a:xfrm>
              <a:off x="6477000" y="4114800"/>
              <a:ext cx="2076450" cy="6858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pic>
        <p:nvPicPr>
          <p:cNvPr id="1038" name="Picture 15" descr="logo.jpg"/>
          <p:cNvPicPr>
            <a:picLocks noChangeAspect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53200" y="228600"/>
            <a:ext cx="1920875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6886989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</p:sldLayoutIdLst>
  <p:txStyles>
    <p:titleStyle>
      <a:lvl1pPr algn="ctr" rtl="0" eaLnBrk="1" fontAlgn="base" hangingPunct="1">
        <a:spcBef>
          <a:spcPct val="0"/>
        </a:spcBef>
        <a:spcAft>
          <a:spcPct val="0"/>
        </a:spcAft>
        <a:defRPr sz="3000" kern="1200">
          <a:solidFill>
            <a:schemeClr val="tx1"/>
          </a:solidFill>
          <a:latin typeface="+mj-lt"/>
          <a:ea typeface="MS PGothic"/>
          <a:cs typeface="MS PGothic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MS PGothic"/>
          <a:cs typeface="MS PGothic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charset="0"/>
          <a:ea typeface="ＭＳ Ｐゴシック" charset="-128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MS PGothic"/>
          <a:cs typeface="MS PGothic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MS PGothic"/>
          <a:cs typeface="MS PGothic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MS PGothic"/>
          <a:cs typeface="MS PGothic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MS PGothic"/>
          <a:cs typeface="MS PGothic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emf"/><Relationship Id="rId4" Type="http://schemas.openxmlformats.org/officeDocument/2006/relationships/customXml" Target="../ink/ink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emf"/><Relationship Id="rId4" Type="http://schemas.openxmlformats.org/officeDocument/2006/relationships/customXml" Target="../ink/ink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journals.sagepub.com/doi/abs/10.1177/20539517221101346" TargetMode="External"/><Relationship Id="rId2" Type="http://schemas.openxmlformats.org/officeDocument/2006/relationships/hyperlink" Target="https://onlinelibrary.wiley.com/doi/abs/10.1111/all.16103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academia.edu/download/82877620/17713.pdf" TargetMode="External"/><Relationship Id="rId2" Type="http://schemas.openxmlformats.org/officeDocument/2006/relationships/hyperlink" Target="https://www.academia.edu/download/67388175/1066-C0049.pdf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4">
            <a:extLst>
              <a:ext uri="{FF2B5EF4-FFF2-40B4-BE49-F238E27FC236}">
                <a16:creationId xmlns:a16="http://schemas.microsoft.com/office/drawing/2014/main" id="{E4690CBE-8CEE-F5EE-CA89-DCBB31B742DE}"/>
              </a:ext>
            </a:extLst>
          </p:cNvPr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1630"/>
              </a:lnSpc>
            </a:pPr>
            <a:fld id="{81D60167-4931-47E6-BA6A-407CBD079E47}" type="slidenum">
              <a:rPr dirty="0"/>
              <a:pPr marL="38100">
                <a:lnSpc>
                  <a:spcPts val="1630"/>
                </a:lnSpc>
              </a:pPr>
              <a:t>1</a:t>
            </a:fld>
            <a:endParaRPr dirty="0"/>
          </a:p>
        </p:txBody>
      </p:sp>
      <p:sp>
        <p:nvSpPr>
          <p:cNvPr id="16" name="Rectangle 15"/>
          <p:cNvSpPr/>
          <p:nvPr/>
        </p:nvSpPr>
        <p:spPr>
          <a:xfrm>
            <a:off x="2277942" y="986135"/>
            <a:ext cx="4588115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en-US" sz="3200" b="1" dirty="0"/>
              <a:t>PROGRESS REVIEW 2</a:t>
            </a:r>
            <a:endParaRPr lang="en-IN" altLang="en-US" sz="3200" b="1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8036" y="2227111"/>
            <a:ext cx="2582124" cy="1295490"/>
          </a:xfrm>
          <a:prstGeom prst="rect">
            <a:avLst/>
          </a:prstGeom>
        </p:spPr>
      </p:pic>
      <p:graphicFrame>
        <p:nvGraphicFramePr>
          <p:cNvPr id="18" name="Table 1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5384034"/>
              </p:ext>
            </p:extLst>
          </p:nvPr>
        </p:nvGraphicFramePr>
        <p:xfrm>
          <a:off x="838200" y="4742978"/>
          <a:ext cx="8460096" cy="2087880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42300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2300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US" sz="1800" b="1" dirty="0"/>
                        <a:t>Submitted</a:t>
                      </a:r>
                      <a:r>
                        <a:rPr lang="en-US" sz="1800" b="1" baseline="0" dirty="0"/>
                        <a:t> To: 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Submitted By:</a:t>
                      </a:r>
                      <a:endParaRPr lang="en-IN" sz="1800" b="1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4957">
                <a:tc rowSpan="5">
                  <a:txBody>
                    <a:bodyPr/>
                    <a:lstStyle/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Dr. Anshu Sharma</a:t>
                      </a:r>
                    </a:p>
                    <a:p>
                      <a:r>
                        <a:rPr lang="en-IN" sz="18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Assistant Professor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1.Vinayak Sharma(2411981621)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408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2.Varun Singh(2411981616)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557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3.Tanush Luthra(2411981577)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347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4.Trijal Wadhwa(2411981588)</a:t>
                      </a:r>
                      <a:endParaRPr lang="en-IN" sz="18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1347">
                <a:tc vMerge="1">
                  <a:txBody>
                    <a:bodyPr/>
                    <a:lstStyle/>
                    <a:p>
                      <a:endParaRPr lang="en-IN" sz="9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sz="11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Rectangle 18"/>
          <p:cNvSpPr/>
          <p:nvPr/>
        </p:nvSpPr>
        <p:spPr>
          <a:xfrm>
            <a:off x="2173891" y="3733800"/>
            <a:ext cx="479041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altLang="en-US" b="1" dirty="0"/>
              <a:t>Department of computer Science &amp; Engineering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632493" y="4035643"/>
            <a:ext cx="587321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altLang="en-US" sz="2400" b="1" dirty="0"/>
              <a:t>CHITKARA UNIVERSITY, HIMACHAL PRADESH</a:t>
            </a:r>
          </a:p>
        </p:txBody>
      </p:sp>
      <p:sp>
        <p:nvSpPr>
          <p:cNvPr id="8" name="Rectangle 7"/>
          <p:cNvSpPr/>
          <p:nvPr/>
        </p:nvSpPr>
        <p:spPr>
          <a:xfrm>
            <a:off x="328235" y="1548825"/>
            <a:ext cx="857157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IN" altLang="en-US" sz="3600" b="1" dirty="0">
                <a:solidFill>
                  <a:srgbClr val="FF0000"/>
                </a:solidFill>
              </a:rPr>
              <a:t>AI-Assisted Air Quality Index Analyzer</a:t>
            </a:r>
          </a:p>
        </p:txBody>
      </p:sp>
    </p:spTree>
    <p:extLst>
      <p:ext uri="{BB962C8B-B14F-4D97-AF65-F5344CB8AC3E}">
        <p14:creationId xmlns:p14="http://schemas.microsoft.com/office/powerpoint/2010/main" val="13661042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5257800"/>
          </a:xfrm>
        </p:spPr>
        <p:txBody>
          <a:bodyPr/>
          <a:lstStyle/>
          <a:p>
            <a:r>
              <a:rPr lang="en-US" dirty="0"/>
              <a:t>Project Overview</a:t>
            </a:r>
          </a:p>
          <a:p>
            <a:r>
              <a:rPr lang="en-US" dirty="0"/>
              <a:t>Requirement Gathering &amp; Data Collection</a:t>
            </a:r>
          </a:p>
          <a:p>
            <a:r>
              <a:rPr lang="en-US" dirty="0"/>
              <a:t>Design Phase</a:t>
            </a:r>
          </a:p>
          <a:p>
            <a:r>
              <a:rPr lang="en-US" dirty="0"/>
              <a:t>Development Kickoff</a:t>
            </a:r>
          </a:p>
          <a:p>
            <a:r>
              <a:rPr lang="en-US" dirty="0"/>
              <a:t>SDG Goals Mapping</a:t>
            </a:r>
          </a:p>
          <a:p>
            <a:r>
              <a:rPr lang="en-US" dirty="0"/>
              <a:t>Multidisciplinary Approach</a:t>
            </a:r>
          </a:p>
          <a:p>
            <a:r>
              <a:rPr lang="en-US" dirty="0"/>
              <a:t>Novelty Factor</a:t>
            </a:r>
          </a:p>
          <a:p>
            <a:r>
              <a:rPr lang="en-US" dirty="0"/>
              <a:t>Challenges &amp; Risks</a:t>
            </a:r>
          </a:p>
          <a:p>
            <a:r>
              <a:rPr lang="en-US" dirty="0"/>
              <a:t>References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PROJECT OVERIEW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166018"/>
            <a:ext cx="8229600" cy="4525963"/>
          </a:xfrm>
        </p:spPr>
        <p:txBody>
          <a:bodyPr/>
          <a:lstStyle/>
          <a:p>
            <a:r>
              <a:rPr lang="en-US" b="1" dirty="0"/>
              <a:t>OBJECTIVES: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Real-Time AQI Data Handling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AI Chatbot for User Interaction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Health and Safety Recommendations</a:t>
            </a:r>
          </a:p>
          <a:p>
            <a:pPr marL="0" indent="0">
              <a:buNone/>
            </a:pPr>
            <a:endParaRPr lang="en-US" sz="2400" dirty="0"/>
          </a:p>
          <a:p>
            <a:r>
              <a:rPr lang="en-US" b="1" dirty="0"/>
              <a:t>SCOPE</a:t>
            </a:r>
            <a:r>
              <a:rPr lang="en-US" dirty="0"/>
              <a:t>: 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u="sng" dirty="0"/>
              <a:t>INCLUDED</a:t>
            </a:r>
            <a:r>
              <a:rPr lang="en-US" sz="2400" dirty="0"/>
              <a:t>:  1.</a:t>
            </a:r>
            <a:r>
              <a:rPr lang="en-US" sz="2000" dirty="0"/>
              <a:t> </a:t>
            </a:r>
            <a:r>
              <a:rPr lang="en-US" sz="2400" dirty="0"/>
              <a:t>Real Time AQI Monitoring</a:t>
            </a:r>
          </a:p>
          <a:p>
            <a:pPr marL="0" indent="0">
              <a:buNone/>
            </a:pPr>
            <a:r>
              <a:rPr lang="en-US" sz="2400" dirty="0"/>
              <a:t>                           2. Personalized Recommendations</a:t>
            </a:r>
          </a:p>
          <a:p>
            <a:pPr marL="0" indent="0">
              <a:buNone/>
            </a:pPr>
            <a:r>
              <a:rPr lang="en-US" sz="2400" dirty="0"/>
              <a:t>                                 3. Automated Alert System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u="sng" dirty="0"/>
              <a:t>EXCLUDED</a:t>
            </a:r>
            <a:r>
              <a:rPr lang="en-US" sz="2400" dirty="0"/>
              <a:t>:  1. Custom Sensor Development</a:t>
            </a:r>
          </a:p>
          <a:p>
            <a:pPr marL="0" indent="0">
              <a:buNone/>
            </a:pPr>
            <a:r>
              <a:rPr lang="en-US" sz="2400" dirty="0"/>
              <a:t>	                 2. Advanced AI Features and Analytics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9F4A8-4B86-FCAC-56A0-066307BCE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129C80-C01F-8BDC-58A9-93587BF70B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STAKEHOLDERS</a:t>
            </a:r>
            <a:r>
              <a:rPr lang="en-US" sz="3200" dirty="0"/>
              <a:t>:</a:t>
            </a:r>
            <a:r>
              <a:rPr lang="en-US" dirty="0"/>
              <a:t> </a:t>
            </a:r>
            <a:r>
              <a:rPr lang="en-US" sz="2800" dirty="0"/>
              <a:t>General Public</a:t>
            </a:r>
          </a:p>
          <a:p>
            <a:endParaRPr lang="en-US" dirty="0"/>
          </a:p>
          <a:p>
            <a:endParaRPr lang="en-US" sz="3200" dirty="0"/>
          </a:p>
          <a:p>
            <a:r>
              <a:rPr lang="en-US" sz="3200" b="1" dirty="0"/>
              <a:t>TIMELINE</a:t>
            </a:r>
            <a:r>
              <a:rPr lang="en-US" sz="3200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Month 1 (Planning and Research)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Month 2-3 (Development)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Month 4 (Testing and Refining)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Month 5 (Final Adjustments and Launch)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Month 6 (Deployment and Documentation)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9009229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/>
              <a:t>REQUIREMENT GATHERING &amp; DATA COLLECTION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500" y="1290484"/>
            <a:ext cx="8001000" cy="5562600"/>
          </a:xfrm>
        </p:spPr>
        <p:txBody>
          <a:bodyPr/>
          <a:lstStyle/>
          <a:p>
            <a:r>
              <a:rPr lang="en-US" b="1" dirty="0"/>
              <a:t>SOURCES OF DATA:</a:t>
            </a:r>
            <a:endParaRPr lang="en-US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Open Weather API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Surveys</a:t>
            </a:r>
          </a:p>
          <a:p>
            <a:pPr marL="0" indent="0">
              <a:buNone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endParaRPr lang="en-US" sz="2800" dirty="0"/>
          </a:p>
        </p:txBody>
      </p:sp>
      <p:pic>
        <p:nvPicPr>
          <p:cNvPr id="6" name="Picture 5" descr="A blue circle with orange triangle and red triangle&#10;&#10;AI-generated content may be incorrect.">
            <a:extLst>
              <a:ext uri="{FF2B5EF4-FFF2-40B4-BE49-F238E27FC236}">
                <a16:creationId xmlns:a16="http://schemas.microsoft.com/office/drawing/2014/main" id="{E31E4F62-E758-B42C-9F45-A2143CEAFC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66337" y="2895600"/>
            <a:ext cx="6811326" cy="351521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D8A4D4-A865-B5B4-0985-2A95EBD2C3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 descr="A pie chart with different colored circles&#10;&#10;AI-generated content may be incorrect.">
            <a:extLst>
              <a:ext uri="{FF2B5EF4-FFF2-40B4-BE49-F238E27FC236}">
                <a16:creationId xmlns:a16="http://schemas.microsoft.com/office/drawing/2014/main" id="{666DB66E-F444-7546-BF74-A3B7D6BAFF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4632" y="1165224"/>
            <a:ext cx="5105400" cy="2340790"/>
          </a:xfrm>
        </p:spPr>
      </p:pic>
      <p:pic>
        <p:nvPicPr>
          <p:cNvPr id="7" name="Picture 6" descr="A pie chart with a triangle in the middle&#10;&#10;AI-generated content may be incorrect.">
            <a:extLst>
              <a:ext uri="{FF2B5EF4-FFF2-40B4-BE49-F238E27FC236}">
                <a16:creationId xmlns:a16="http://schemas.microsoft.com/office/drawing/2014/main" id="{AF65E823-0BE6-5428-272E-82BF6F1B95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" y="3657600"/>
            <a:ext cx="5420747" cy="255881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5486247" y="1107775"/>
              <a:ext cx="236160" cy="18864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448087" y="1069615"/>
                <a:ext cx="312480" cy="26496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DEA7FED7-83D1-3BB5-BDD9-EC081BC26304}"/>
              </a:ext>
            </a:extLst>
          </p:cNvPr>
          <p:cNvSpPr/>
          <p:nvPr/>
        </p:nvSpPr>
        <p:spPr>
          <a:xfrm>
            <a:off x="5105400" y="1107775"/>
            <a:ext cx="617007" cy="41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76355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6EEB0-1A10-6886-DB9D-9724834977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 descr="A graph with purple bars&#10;&#10;AI-generated content may be incorrect.">
            <a:extLst>
              <a:ext uri="{FF2B5EF4-FFF2-40B4-BE49-F238E27FC236}">
                <a16:creationId xmlns:a16="http://schemas.microsoft.com/office/drawing/2014/main" id="{B9643301-0102-0F7B-BE75-3CCBFE04D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1561" y="3657600"/>
            <a:ext cx="6275439" cy="2831683"/>
          </a:xfrm>
          <a:prstGeom prst="rect">
            <a:avLst/>
          </a:prstGeom>
        </p:spPr>
      </p:pic>
      <p:pic>
        <p:nvPicPr>
          <p:cNvPr id="6" name="Content Placeholder 5" descr="A graph with purple bars&#10;&#10;AI-generated content may be incorrect.">
            <a:extLst>
              <a:ext uri="{FF2B5EF4-FFF2-40B4-BE49-F238E27FC236}">
                <a16:creationId xmlns:a16="http://schemas.microsoft.com/office/drawing/2014/main" id="{F4D65A48-4F54-2FC5-F2B4-A608D191D2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779" y="990601"/>
            <a:ext cx="6477000" cy="2909042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/>
              <p14:cNvContentPartPr/>
              <p14:nvPr/>
            </p14:nvContentPartPr>
            <p14:xfrm>
              <a:off x="5666607" y="969535"/>
              <a:ext cx="1177920" cy="430200"/>
            </p14:xfrm>
          </p:contentPart>
        </mc:Choice>
        <mc:Fallback xmlns="">
          <p:pic>
            <p:nvPicPr>
              <p:cNvPr id="4" name="Ink 3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5628447" y="931375"/>
                <a:ext cx="1254240" cy="506520"/>
              </a:xfrm>
              <a:prstGeom prst="rect">
                <a:avLst/>
              </a:prstGeom>
            </p:spPr>
          </p:pic>
        </mc:Fallback>
      </mc:AlternateContent>
      <p:sp>
        <p:nvSpPr>
          <p:cNvPr id="3" name="Rectangle 2">
            <a:extLst>
              <a:ext uri="{FF2B5EF4-FFF2-40B4-BE49-F238E27FC236}">
                <a16:creationId xmlns:a16="http://schemas.microsoft.com/office/drawing/2014/main" id="{A5AAF969-DFEE-0422-0A46-6040F9FD6739}"/>
              </a:ext>
            </a:extLst>
          </p:cNvPr>
          <p:cNvSpPr/>
          <p:nvPr/>
        </p:nvSpPr>
        <p:spPr>
          <a:xfrm>
            <a:off x="5181600" y="969535"/>
            <a:ext cx="1600200" cy="5544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2309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421338-6305-F8F6-5413-B9769B30A4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A67F67-9B8C-DE0A-4CD0-BD090982DC1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KEY-FUNCTIONAL REQUIREMENTS: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Real-Time Data Integration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Chatbot Interaction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Alert System</a:t>
            </a:r>
          </a:p>
          <a:p>
            <a:endParaRPr lang="en-US" sz="2400" dirty="0"/>
          </a:p>
          <a:p>
            <a:r>
              <a:rPr lang="en-US" b="1" dirty="0"/>
              <a:t>NON-FUNCTIONAL REQUIREMENTS: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System Performance and Speed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User-Friendly Interface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Scalability and Growth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pPr>
              <a:buFont typeface="Wingdings" panose="05000000000000000000" pitchFamily="2" charset="2"/>
              <a:buChar char="Ø"/>
            </a:pP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57183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AF91F-AB5E-11D5-D0CA-EA37D7956B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E7731-A9DE-1E11-20E4-42A052B67B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4906963"/>
          </a:xfrm>
        </p:spPr>
        <p:txBody>
          <a:bodyPr/>
          <a:lstStyle/>
          <a:p>
            <a:r>
              <a:rPr lang="en-US" b="1" dirty="0"/>
              <a:t>CHALLENGES IN DATA COLLECTION: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Data Inconsistency and Accuracy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Geographic Coverage and Accessibility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Data Latency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b="1" dirty="0"/>
              <a:t>CURRENT STATUS: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In Progress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2868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200" b="1" dirty="0"/>
            </a:br>
            <a:r>
              <a:rPr lang="en-US" sz="3600" b="1" dirty="0"/>
              <a:t>Design Phase</a:t>
            </a:r>
            <a:br>
              <a:rPr lang="en-US" sz="3600" b="1" dirty="0"/>
            </a:br>
            <a:endParaRPr lang="en-US" sz="36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b="1" dirty="0"/>
              <a:t>Use Case Diagram</a:t>
            </a:r>
          </a:p>
          <a:p>
            <a:pPr marL="0" indent="0">
              <a:buNone/>
            </a:pPr>
            <a:endParaRPr lang="en-US" sz="2400" dirty="0"/>
          </a:p>
          <a:p>
            <a:endParaRPr lang="en-US" sz="2400" dirty="0"/>
          </a:p>
        </p:txBody>
      </p:sp>
      <p:pic>
        <p:nvPicPr>
          <p:cNvPr id="6" name="Picture 5" descr="A diagram of a software system&#10;&#10;AI-generated content may be incorrect.">
            <a:extLst>
              <a:ext uri="{FF2B5EF4-FFF2-40B4-BE49-F238E27FC236}">
                <a16:creationId xmlns:a16="http://schemas.microsoft.com/office/drawing/2014/main" id="{3A4E6AC6-D16F-B4DE-823D-F50F99A53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00" y="1876208"/>
            <a:ext cx="6982799" cy="3105583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992104-B0EC-ED14-1C82-7B8F42748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3C0FDE-90AC-B1CD-E50B-4EF8DF78FB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166018"/>
            <a:ext cx="8229600" cy="4525963"/>
          </a:xfrm>
        </p:spPr>
        <p:txBody>
          <a:bodyPr/>
          <a:lstStyle/>
          <a:p>
            <a:r>
              <a:rPr lang="en-US" b="1" dirty="0"/>
              <a:t>DATA FLOW DIAGRAM: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6" name="Picture 5" descr="A diagram of a system&#10;&#10;AI-generated content may be incorrect.">
            <a:extLst>
              <a:ext uri="{FF2B5EF4-FFF2-40B4-BE49-F238E27FC236}">
                <a16:creationId xmlns:a16="http://schemas.microsoft.com/office/drawing/2014/main" id="{2089EAC8-053D-814F-E88A-06136C3754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286000"/>
            <a:ext cx="7459116" cy="2705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40086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DEVELOPMENT KICKOFF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PROJECT STRUCTURE AND SETUP: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b="1" dirty="0"/>
              <a:t>Folder Organization: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u="sng" dirty="0"/>
              <a:t>index.html </a:t>
            </a:r>
            <a:r>
              <a:rPr lang="en-US" sz="2400" b="1" dirty="0"/>
              <a:t>- </a:t>
            </a:r>
            <a:r>
              <a:rPr lang="en-US" sz="2400" dirty="0"/>
              <a:t>The main HTML file for the web application</a:t>
            </a:r>
            <a:r>
              <a:rPr lang="en-US" sz="2400" b="1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u="sng" dirty="0"/>
              <a:t>styles.css </a:t>
            </a:r>
            <a:r>
              <a:rPr lang="en-US" sz="2400" dirty="0"/>
              <a:t>- External stylesheet for all page styles</a:t>
            </a:r>
            <a:r>
              <a:rPr lang="en-US" sz="2400" b="1" dirty="0"/>
              <a:t>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sz="2400" u="sng" dirty="0"/>
              <a:t>scripts.js </a:t>
            </a:r>
            <a:r>
              <a:rPr lang="en-US" sz="2400" dirty="0"/>
              <a:t>- JavaScript file for handling functionality and interactivity.</a:t>
            </a:r>
          </a:p>
          <a:p>
            <a:pPr marL="457200" indent="-457200">
              <a:buAutoNum type="arabicPeriod"/>
            </a:pPr>
            <a:endParaRPr lang="en-US" sz="2400" b="1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8545131-42F4-279C-9664-1B2694C333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639" y="4267200"/>
            <a:ext cx="8431161" cy="202263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192E-D479-91F1-44E8-1AB7AF447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7AF4C3-2B3F-96CB-8B2F-750BFE54FD6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INITIAL CODE SETUP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E02D42-1B10-F196-F206-8D29604A57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2069357"/>
            <a:ext cx="7488872" cy="42092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58784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b="1" dirty="0"/>
            </a:br>
            <a:r>
              <a:rPr lang="en-US" sz="3600" b="1" dirty="0"/>
              <a:t> SDG GOALS MAPPING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1295400"/>
            <a:ext cx="8229600" cy="4525963"/>
          </a:xfrm>
        </p:spPr>
        <p:txBody>
          <a:bodyPr/>
          <a:lstStyle/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i="1" u="sng" dirty="0"/>
              <a:t>SDG 3: Good Health and Well-being:</a:t>
            </a:r>
            <a:r>
              <a:rPr lang="en-US" sz="2400" b="1" i="1" dirty="0"/>
              <a:t> </a:t>
            </a:r>
            <a:r>
              <a:rPr lang="en-US" sz="2400" dirty="0"/>
              <a:t>Provides real-time AQI data to help protect public health from air pollution.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b="1" i="1" u="sng" dirty="0"/>
              <a:t>SDG 11: Sustainable Cities and Communities:</a:t>
            </a:r>
            <a:r>
              <a:rPr lang="en-US" sz="2400" b="1" i="1" dirty="0"/>
              <a:t> </a:t>
            </a:r>
            <a:r>
              <a:rPr lang="en-US" sz="2400" dirty="0"/>
              <a:t>Supports urban sustainability by tracking air quality in cities.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r>
              <a:rPr lang="en-US" b="1" dirty="0"/>
              <a:t>POTENTIAL IMPACT</a:t>
            </a:r>
            <a:r>
              <a:rPr lang="en-US" dirty="0"/>
              <a:t>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Raises Awareness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Promotes Healthier Lifestyles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Encourages Sustainability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88D852-3678-3206-1396-17B4CF0F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C516CB-07D8-21D7-E7A1-02AB80EF40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CONTRIBUTION TO SOCIAL GOOD: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Equity in Access: Ensures access to air quality data for all, especially in high-risk areas.</a:t>
            </a:r>
            <a:endParaRPr lang="en-IN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dirty="0"/>
              <a:t>Prevention of Health Issues: Reduces the risk of diseases related to poor air quality by promoting awareness and preventative measures.</a:t>
            </a:r>
            <a:r>
              <a:rPr lang="en-IN" sz="2400" b="1" dirty="0"/>
              <a:t> 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4370376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MULTIDISCIPLINARY APPROACH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FIELDS INVOLVED:</a:t>
            </a:r>
            <a:endParaRPr lang="en-US" sz="2800" dirty="0"/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Data Collection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Predictive Analytics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Front-End Development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Chatbot Integration</a:t>
            </a:r>
          </a:p>
          <a:p>
            <a:pPr>
              <a:buFont typeface="Wingdings" panose="05000000000000000000" pitchFamily="2" charset="2"/>
              <a:buChar char="Ø"/>
            </a:pPr>
            <a:endParaRPr lang="en-US" sz="2400" dirty="0"/>
          </a:p>
          <a:p>
            <a:r>
              <a:rPr lang="en-US" b="1" dirty="0"/>
              <a:t>TEAM COLLABORATION: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Coordinated Effort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Problem Solving</a:t>
            </a:r>
          </a:p>
          <a:p>
            <a:endParaRPr lang="en-US" sz="2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81AE1-A539-B629-25FE-B0B4CBF497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79D482-A1B6-809F-BB49-2A07924BF6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3200" b="1" dirty="0"/>
              <a:t>INTERDISCIPLINARY INNOVATION:</a:t>
            </a:r>
            <a:endParaRPr lang="en-US" sz="3200" dirty="0"/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AI &amp; Data Integration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Optimized User Experience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Software Engineering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IN" sz="2400" dirty="0"/>
              <a:t>Data Analytics</a:t>
            </a:r>
          </a:p>
        </p:txBody>
      </p:sp>
    </p:spTree>
    <p:extLst>
      <p:ext uri="{BB962C8B-B14F-4D97-AF65-F5344CB8AC3E}">
        <p14:creationId xmlns:p14="http://schemas.microsoft.com/office/powerpoint/2010/main" val="814699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NOVELTY FACTOR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WHAT MAKES OUR PROJECT UNIQUE?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AI-Powered Chatbot Integration</a:t>
            </a:r>
          </a:p>
          <a:p>
            <a:pPr>
              <a:buFont typeface="Wingdings" panose="05000000000000000000" pitchFamily="2" charset="2"/>
              <a:buChar char="Ø"/>
            </a:pPr>
            <a:r>
              <a:rPr lang="en-US" sz="2400" dirty="0"/>
              <a:t>Real-Time Interaction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COMPARISON WITH EXISTING SOLUTIONS: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Traditional AQI Tools</a:t>
            </a:r>
            <a:r>
              <a:rPr lang="en-US" sz="2400" dirty="0"/>
              <a:t>: Most existing AQI tools display data without much interaction or personalization. They provide static readings and basic information.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Our Solution</a:t>
            </a:r>
            <a:r>
              <a:rPr lang="en-US" sz="2400" dirty="0"/>
              <a:t>: Offers real-time, interactive responses via the AI chatbot and personalized recommendations based on individual locations and health factors.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2850F1-7BC8-0741-1F36-318E025274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A2121A-65D7-7EED-03EF-B89FD07DC3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b="1" dirty="0"/>
              <a:t>INNOVATION IN APPROACH, DESIGN OR TECHNOLOGY:</a:t>
            </a:r>
          </a:p>
          <a:p>
            <a:endParaRPr lang="en-US" sz="2400" b="1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AI Chatbot for Personalized User Experience</a:t>
            </a:r>
            <a:r>
              <a:rPr lang="en-US" sz="2400" dirty="0"/>
              <a:t>: Innovation in utilizing NLP (Natural Language Processing) to offer a conversational interface that answers questions and provides advice based on the user’s needs.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400" dirty="0"/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Predictive Analytics</a:t>
            </a:r>
            <a:r>
              <a:rPr lang="en-US" sz="2400" dirty="0"/>
              <a:t>: Leverages machine learning models to predict air quality trends, empowering users to plan ahead and take action before poor air quality becomes a problem.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147394365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br>
              <a:rPr lang="en-US" sz="3600" b="1" dirty="0"/>
            </a:br>
            <a:r>
              <a:rPr lang="en-US" sz="3600" b="1" dirty="0"/>
              <a:t>CHALLENGES &amp; RISKS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838200"/>
            <a:ext cx="8229600" cy="4830763"/>
          </a:xfrm>
        </p:spPr>
        <p:txBody>
          <a:bodyPr/>
          <a:lstStyle/>
          <a:p>
            <a:pPr algn="just"/>
            <a:r>
              <a:rPr lang="en-US" b="1" dirty="0"/>
              <a:t>KEY CHALLENGES FACED SO FAR</a:t>
            </a:r>
            <a:r>
              <a:rPr lang="en-US" dirty="0"/>
              <a:t>: 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Data Accuracy and Reliability</a:t>
            </a:r>
            <a:r>
              <a:rPr lang="en-US" sz="2400" dirty="0"/>
              <a:t>: Ensuring that AQI data from various sources (e.g., sensors, APIs) is accurate, real-time, and reliable.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Integrating AI Chatbot with Data</a:t>
            </a:r>
            <a:r>
              <a:rPr lang="en-US" sz="2400" dirty="0"/>
              <a:t>: Developing a functional AI chatbot that understands and responds appropriately to user queries while integrating seamlessly with the real-time AQI data.</a:t>
            </a:r>
          </a:p>
          <a:p>
            <a:r>
              <a:rPr lang="en-US" b="1" dirty="0"/>
              <a:t>IDENTIFIED RISKS &amp; STRATEGIES: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Risk</a:t>
            </a:r>
            <a:r>
              <a:rPr lang="en-US" sz="2400" dirty="0"/>
              <a:t> : Inaccurate or Incomplete data.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Data Mitigation</a:t>
            </a:r>
            <a:r>
              <a:rPr lang="en-US" sz="2400" dirty="0"/>
              <a:t>: Use multiple trusted data sources and regularly validate data for accuracy. Implement data correction mechanisms if inconsistencies are detected.</a:t>
            </a:r>
          </a:p>
          <a:p>
            <a:endParaRPr lang="en-US" sz="2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152400"/>
            <a:ext cx="6477000" cy="838200"/>
          </a:xfrm>
        </p:spPr>
        <p:txBody>
          <a:bodyPr/>
          <a:lstStyle/>
          <a:p>
            <a:r>
              <a:rPr lang="en-US" sz="3600" b="1" dirty="0"/>
              <a:t>Next Steps</a:t>
            </a:r>
            <a:br>
              <a:rPr lang="en-US" b="1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295400"/>
            <a:ext cx="8229600" cy="4906963"/>
          </a:xfrm>
        </p:spPr>
        <p:txBody>
          <a:bodyPr/>
          <a:lstStyle/>
          <a:p>
            <a:pPr algn="just"/>
            <a:r>
              <a:rPr lang="en-US" b="1" dirty="0"/>
              <a:t>FINALIZING DESGIN PHASE</a:t>
            </a:r>
            <a:r>
              <a:rPr lang="en-US" sz="2400" b="1" dirty="0"/>
              <a:t>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Chatbot Interaction Flow</a:t>
            </a:r>
            <a:r>
              <a:rPr lang="en-US" sz="2000" dirty="0"/>
              <a:t>: </a:t>
            </a:r>
            <a:r>
              <a:rPr lang="en-US" sz="2400" dirty="0"/>
              <a:t>Perfect the chatbot conversation design to ensure smooth and relevant interactions.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Visual Design</a:t>
            </a:r>
            <a:r>
              <a:rPr lang="en-US" sz="2400" dirty="0"/>
              <a:t>: Ensure the design is visually appealing, with clear representation of AQI data and alerts in a user-friendly format.</a:t>
            </a:r>
          </a:p>
          <a:p>
            <a:pPr algn="just">
              <a:buFont typeface="Wingdings" panose="05000000000000000000" pitchFamily="2" charset="2"/>
              <a:buChar char="Ø"/>
            </a:pPr>
            <a:endParaRPr lang="en-US" sz="2000" dirty="0"/>
          </a:p>
          <a:p>
            <a:pPr algn="just"/>
            <a:r>
              <a:rPr lang="en-US" b="1" dirty="0"/>
              <a:t>EARLY DEVELOPMENT &amp; TESTING:</a:t>
            </a:r>
          </a:p>
          <a:p>
            <a:pPr algn="just">
              <a:buFont typeface="Wingdings" panose="05000000000000000000" pitchFamily="2" charset="2"/>
              <a:buChar char="Ø"/>
            </a:pPr>
            <a:r>
              <a:rPr lang="en-US" sz="2400" u="sng" dirty="0"/>
              <a:t>Core Features Development</a:t>
            </a:r>
            <a:r>
              <a:rPr lang="en-US" sz="2400" dirty="0"/>
              <a:t>: Start building the main features, including data integration, real-time AQI updates, and the AI chatbot functionality.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F5ADDF-E419-3A25-2DA9-B2AC8A94C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b="1" dirty="0"/>
              <a:t>REFERENCES</a:t>
            </a:r>
            <a:endParaRPr lang="en-IN" sz="3600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AC622B-E8EE-6213-2577-0CFF3B61FA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Agache, I., Annesi‐Maesano, I., Cecchi, L., Biagioni, B., Chung, K.F., Clot, B., D'Amato, G., </a:t>
            </a:r>
            <a:r>
              <a:rPr lang="en-IN" sz="1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Damialis</a:t>
            </a:r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A., Del Giacco, S., Dominguez‐Ortega, J. and </a:t>
            </a:r>
            <a:r>
              <a:rPr lang="en-IN" sz="1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Galàn</a:t>
            </a:r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C., 2024. EAACI guidelines on environmental science for allergy and asthma: The impact of short‐term exposure to outdoor air pollutants on asthma‐related outcomes and recommendations for mitigation measures. </a:t>
            </a:r>
            <a:r>
              <a:rPr lang="en-IN" sz="1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Allergy</a:t>
            </a:r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sz="1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79</a:t>
            </a:r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(7), pp.1656-1686.</a:t>
            </a:r>
            <a:r>
              <a:rPr lang="en-US" sz="18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2"/>
              </a:rPr>
              <a:t> EAACI guidelines on environmental science for allergy and asthma: The impact of short‐term exposure to outdoor air pollutants on asthma‐related outcomes and …</a:t>
            </a:r>
            <a:endParaRPr lang="en-US" sz="1800" b="0" i="0" u="none" strike="noStrike" dirty="0">
              <a:solidFill>
                <a:srgbClr val="1A0DAB"/>
              </a:solidFill>
              <a:effectLst/>
              <a:latin typeface="Arial" panose="020B0604020202020204" pitchFamily="34" charset="0"/>
            </a:endParaRPr>
          </a:p>
          <a:p>
            <a:pPr algn="just"/>
            <a:endParaRPr lang="en-US" sz="1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just"/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Agache, Ioana, et al. "EAACI guidelines on environmental science for allergy and asthma: The impact of short‐term exposure to outdoor air pollutants on asthma‐related outcomes and recommendations for mitigation measures." </a:t>
            </a:r>
            <a:r>
              <a:rPr lang="en-IN" sz="1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Allergy</a:t>
            </a:r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 79.7 (2024): 1656-1686.</a:t>
            </a:r>
            <a:r>
              <a:rPr lang="en-US" sz="18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 'Real-</a:t>
            </a:r>
            <a:r>
              <a:rPr lang="en-US" sz="1800" b="0" i="0" u="none" strike="noStrike" dirty="0" err="1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time'</a:t>
            </a:r>
            <a:r>
              <a:rPr lang="en-US" sz="1800" b="1" i="0" u="none" strike="noStrike" dirty="0" err="1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air</a:t>
            </a:r>
            <a:r>
              <a:rPr lang="en-US" sz="18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 quality </a:t>
            </a:r>
            <a:r>
              <a:rPr lang="en-US" sz="18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channels: A technology review of emerging environmental alert systems</a:t>
            </a:r>
            <a:endParaRPr lang="en-US" sz="1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1581067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1F6191-7DD0-C1B3-A4C7-8E9C0FD481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D1286C-4848-1A5F-947B-9CF857BB84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>
              <a:spcAft>
                <a:spcPts val="150"/>
              </a:spcAft>
            </a:pPr>
            <a:r>
              <a:rPr lang="en-US" sz="180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Kang, G.K., Gao, J.Z., Chiao, S., Lu, S. and Xie, G., 2018. Air quality</a:t>
            </a:r>
          </a:p>
          <a:p>
            <a:pPr marL="0" indent="0" algn="just">
              <a:spcAft>
                <a:spcPts val="15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     </a:t>
            </a:r>
            <a:r>
              <a:rPr lang="en-US" sz="180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prediction: Big data and machine learning approaches. Int. J. Environ. Sci.</a:t>
            </a:r>
          </a:p>
          <a:p>
            <a:pPr marL="0" indent="0" algn="just">
              <a:spcAft>
                <a:spcPts val="150"/>
              </a:spcAft>
              <a:buNone/>
            </a:pPr>
            <a:r>
              <a:rPr lang="en-US" sz="180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    Dev, 9(1), pp.8-16.</a:t>
            </a:r>
          </a:p>
          <a:p>
            <a:pPr marL="0" indent="0" algn="just">
              <a:spcAft>
                <a:spcPts val="150"/>
              </a:spcAft>
              <a:buNone/>
            </a:pPr>
            <a:r>
              <a:rPr lang="en-US" sz="1800" dirty="0">
                <a:solidFill>
                  <a:srgbClr val="222222"/>
                </a:solidFill>
                <a:latin typeface="Arial" panose="020B0604020202020204" pitchFamily="34" charset="0"/>
              </a:rPr>
              <a:t>    </a:t>
            </a:r>
            <a:r>
              <a:rPr lang="en-IN" sz="1800" dirty="0">
                <a:solidFill>
                  <a:srgbClr val="1A0DAB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IN" sz="1800" dirty="0">
                <a:solidFill>
                  <a:srgbClr val="1A0DAB"/>
                </a:solidFill>
                <a:latin typeface="Arial" panose="020B0604020202020204" pitchFamily="34" charset="0"/>
                <a:hlinkClick r:id="rId2"/>
              </a:rPr>
              <a:t>Air quality prediction: Big data and machine learning approaches</a:t>
            </a:r>
            <a:endParaRPr lang="en-IN" sz="1800" dirty="0">
              <a:solidFill>
                <a:srgbClr val="1A0DAB"/>
              </a:solidFill>
              <a:latin typeface="Arial" panose="020B0604020202020204" pitchFamily="34" charset="0"/>
            </a:endParaRPr>
          </a:p>
          <a:p>
            <a:pPr marL="0" indent="0" algn="just">
              <a:spcAft>
                <a:spcPts val="150"/>
              </a:spcAft>
              <a:buNone/>
            </a:pPr>
            <a:endParaRPr lang="en-IN" sz="1800" dirty="0">
              <a:solidFill>
                <a:srgbClr val="1A0DAB"/>
              </a:solidFill>
              <a:effectLst/>
              <a:latin typeface="Arial" panose="020B0604020202020204" pitchFamily="34" charset="0"/>
            </a:endParaRPr>
          </a:p>
          <a:p>
            <a:pPr algn="just">
              <a:spcAft>
                <a:spcPts val="150"/>
              </a:spcAft>
            </a:pPr>
            <a:r>
              <a:rPr lang="en-IN" sz="1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Abulude</a:t>
            </a:r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F.O., Oluwafemi, M.O., </a:t>
            </a:r>
            <a:r>
              <a:rPr lang="en-IN" sz="1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Arifalo</a:t>
            </a:r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 K.M., Elisha, J.J. and Yusuf, A., 2022. Real-time air quality index app: The use of </a:t>
            </a:r>
            <a:r>
              <a:rPr lang="en-IN" sz="1800" b="0" i="0" dirty="0" err="1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eWeather</a:t>
            </a:r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 HDF App for education in monitoring of pollutants and meteorological parameters in Nigeria. </a:t>
            </a:r>
            <a:r>
              <a:rPr lang="en-IN" sz="1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ASEAN Journal of Science and Engineering Education</a:t>
            </a:r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, </a:t>
            </a:r>
            <a:r>
              <a:rPr lang="en-IN" sz="1800" b="0" i="1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2</a:t>
            </a:r>
            <a:r>
              <a:rPr lang="en-IN" sz="1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(2), pp.157-162.</a:t>
            </a:r>
            <a:r>
              <a:rPr lang="en-US" sz="1100" dirty="0">
                <a:solidFill>
                  <a:srgbClr val="1A0DAB"/>
                </a:solidFill>
                <a:latin typeface="Arial" panose="020B0604020202020204" pitchFamily="34" charset="0"/>
              </a:rPr>
              <a:t> </a:t>
            </a:r>
            <a:r>
              <a:rPr lang="en-US" sz="18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Real-time </a:t>
            </a:r>
            <a:r>
              <a:rPr lang="en-US" sz="18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air quality index app</a:t>
            </a:r>
            <a:r>
              <a:rPr lang="en-US" sz="18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: The use of </a:t>
            </a:r>
            <a:r>
              <a:rPr lang="en-US" sz="1800" b="0" i="0" u="none" strike="noStrike" dirty="0" err="1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eWeather</a:t>
            </a:r>
            <a:r>
              <a:rPr lang="en-US" sz="18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 HDF </a:t>
            </a:r>
            <a:r>
              <a:rPr lang="en-US" sz="1800" b="1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App </a:t>
            </a:r>
            <a:r>
              <a:rPr lang="en-US" sz="1800" b="0" i="0" u="none" strike="noStrike" dirty="0">
                <a:solidFill>
                  <a:srgbClr val="1A0DAB"/>
                </a:solidFill>
                <a:effectLst/>
                <a:latin typeface="Arial" panose="020B0604020202020204" pitchFamily="34" charset="0"/>
                <a:hlinkClick r:id="rId3"/>
              </a:rPr>
              <a:t>for education in monitoring of pollutants and meteorological parameters in Nigeria</a:t>
            </a:r>
            <a:endParaRPr lang="en-US" sz="1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>
              <a:spcAft>
                <a:spcPts val="150"/>
              </a:spcAft>
            </a:pPr>
            <a:endParaRPr lang="en-IN" sz="1800" dirty="0"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266097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44EB4-F520-650F-DEB3-DA299D7AE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3F1923-93B7-7637-094B-6F3BD0F52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  <a:p>
            <a:pPr marL="0" indent="0" algn="ctr">
              <a:buNone/>
            </a:pPr>
            <a:endParaRPr lang="en-IN" dirty="0"/>
          </a:p>
          <a:p>
            <a:pPr marL="0" indent="0" algn="ctr">
              <a:buNone/>
            </a:pPr>
            <a:r>
              <a:rPr lang="en-IN" sz="8800" b="1" dirty="0">
                <a:latin typeface="Baskerville Old Face" panose="02020602080505020303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50105357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9AE925D5-DA43-4DD1-B6B6-8B467D16728C}" vid="{3EE72552-1DD1-4F59-AD60-F0ECC5712FA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671</TotalTime>
  <Words>1083</Words>
  <Application>Microsoft Office PowerPoint</Application>
  <PresentationFormat>On-screen Show (4:3)</PresentationFormat>
  <Paragraphs>147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Arial</vt:lpstr>
      <vt:lpstr>Baskerville Old Face</vt:lpstr>
      <vt:lpstr>Calibri</vt:lpstr>
      <vt:lpstr>Courier New</vt:lpstr>
      <vt:lpstr>Times New Roman</vt:lpstr>
      <vt:lpstr>Wingdings</vt:lpstr>
      <vt:lpstr>Theme1</vt:lpstr>
      <vt:lpstr>PowerPoint Presentation</vt:lpstr>
      <vt:lpstr>AGENDA</vt:lpstr>
      <vt:lpstr>PROJECT OVERIEW</vt:lpstr>
      <vt:lpstr>PowerPoint Presentation</vt:lpstr>
      <vt:lpstr>REQUIREMENT GATHERING &amp; DATA COLLECTION</vt:lpstr>
      <vt:lpstr>PowerPoint Presentation</vt:lpstr>
      <vt:lpstr>PowerPoint Presentation</vt:lpstr>
      <vt:lpstr>PowerPoint Presentation</vt:lpstr>
      <vt:lpstr>PowerPoint Presentation</vt:lpstr>
      <vt:lpstr> Design Phase </vt:lpstr>
      <vt:lpstr>PowerPoint Presentation</vt:lpstr>
      <vt:lpstr>DEVELOPMENT KICKOFF</vt:lpstr>
      <vt:lpstr>PowerPoint Presentation</vt:lpstr>
      <vt:lpstr>  SDG GOALS MAPPING </vt:lpstr>
      <vt:lpstr>PowerPoint Presentation</vt:lpstr>
      <vt:lpstr>MULTIDISCIPLINARY APPROACH</vt:lpstr>
      <vt:lpstr>PowerPoint Presentation</vt:lpstr>
      <vt:lpstr>NOVELTY FACTOR</vt:lpstr>
      <vt:lpstr>PowerPoint Presentation</vt:lpstr>
      <vt:lpstr> CHALLENGES &amp; RISKS </vt:lpstr>
      <vt:lpstr>Next Steps </vt:lpstr>
      <vt:lpstr>REFERENCES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Vinayak Sharma</cp:lastModifiedBy>
  <cp:revision>62</cp:revision>
  <dcterms:created xsi:type="dcterms:W3CDTF">2024-07-10T18:26:37Z</dcterms:created>
  <dcterms:modified xsi:type="dcterms:W3CDTF">2025-04-21T17:37:56Z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2023-09-09T00:00:00Z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2024-07-10T00:00:00Z</vt:filetime>
  </property>
</Properties>
</file>